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83A"/>
                </a:solidFill>
              </a:defRPr>
            </a:pPr>
            <a:r>
              <a:t>Blood Cell Detection with YOLO26n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80"/>
                </a:solidFill>
              </a:defRPr>
            </a:pPr>
            <a:r>
              <a:t>Real-time detection and counting of RBCs, WBCs and Platelets from microscopic blood-smear images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7472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Problem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Manual inspection is slow and cell-dense images are difficult to count consistently.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Goal: localize, classify and count each visible cell—not just classify the whole image.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64008" cy="1920240"/>
          </a:xfrm>
          <a:prstGeom prst="rect">
            <a:avLst/>
          </a:prstGeom>
          <a:solidFill>
            <a:srgbClr val="DC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Training Dataset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BCCD public object-detection dataset hosted by Roboflow.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364 raw images • 4,888 labels • 3 classes: RBC, WBC, Platelets.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Bounding-box annotations support supervised object detection.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417320"/>
            <a:ext cx="64008" cy="1920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47472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Why YOLO26n?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Object detection returns a bounding box, class and confidence for every cell.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YOLO26n is lightweight, supports 640px detection, and is designed for efficient real-time inference.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17320"/>
            <a:ext cx="64008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105156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Design Goal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Build a model that is quantitatively accurate AND visually verifiable in an interactive Streamlit app.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Evaluation: mAP on unseen test images + visual confirmation of detected cells.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40480"/>
            <a:ext cx="64008" cy="1417320"/>
          </a:xfrm>
          <a:prstGeom prst="rect">
            <a:avLst/>
          </a:prstGeom>
          <a:solidFill>
            <a:srgbClr val="18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080"/>
                </a:solidFill>
              </a:defRPr>
            </a:pPr>
            <a:r>
              <a:t>Sources: Roboflow BCCD public dataset; Ultralytics YOLO26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83A"/>
                </a:solidFill>
              </a:defRPr>
            </a:pPr>
            <a:r>
              <a:t>Iteration &amp; Learning: The Dataset Was Part of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80"/>
                </a:solidFill>
              </a:defRPr>
            </a:pPr>
            <a:r>
              <a:t>Error analysis changed the project from “train longer” to “improve the supervision signal.”</a:t>
            </a:r>
          </a:p>
        </p:txBody>
      </p:sp>
      <p:sp>
        <p:nvSpPr>
          <p:cNvPr id="4" name="Oval 3"/>
          <p:cNvSpPr/>
          <p:nvPr/>
        </p:nvSpPr>
        <p:spPr>
          <a:xfrm>
            <a:off x="411480" y="15087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" y="205740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283A"/>
                </a:solidFill>
              </a:defRPr>
            </a:pPr>
            <a:r>
              <a:t>Baseline</a:t>
            </a:r>
            <a:br/>
            <a:r>
              <a:t>training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978408" y="1627632"/>
            <a:ext cx="1234440" cy="201168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50008" y="15087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6" y="205740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283A"/>
                </a:solidFill>
              </a:defRPr>
            </a:pPr>
            <a:r>
              <a:t>Evaluate</a:t>
            </a:r>
            <a:br/>
            <a:r>
              <a:t>unseen test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16936" y="1627632"/>
            <a:ext cx="1234440" cy="201168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88536" y="15087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205740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283A"/>
                </a:solidFill>
              </a:defRPr>
            </a:pPr>
            <a:r>
              <a:t>Inspect</a:t>
            </a:r>
            <a:br/>
            <a:r>
              <a:t>failures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55464" y="1627632"/>
            <a:ext cx="1234440" cy="201168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27064" y="15087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205740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283A"/>
                </a:solidFill>
              </a:defRPr>
            </a:pPr>
            <a:r>
              <a:t>Audit &amp; correct</a:t>
            </a:r>
            <a:br/>
            <a:r>
              <a:t>annotations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93992" y="1627632"/>
            <a:ext cx="1234440" cy="201168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65592" y="15087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05740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283A"/>
                </a:solidFill>
              </a:defRPr>
            </a:pPr>
            <a:r>
              <a:t>Fine-tune on</a:t>
            </a:r>
            <a:br/>
            <a:r>
              <a:t>corrected subset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19" y="1627632"/>
            <a:ext cx="1234440" cy="201168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4120" y="15087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205740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283A"/>
                </a:solidFill>
              </a:defRPr>
            </a:pPr>
            <a:r>
              <a:t>Retrain on</a:t>
            </a:r>
            <a:br/>
            <a:r>
              <a:t>full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6324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Baseline mAP@50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81.81%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06324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Baseline Precision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71.74%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306324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RBC mAP@50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83.40%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306324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Platelet mAP@50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65.10%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3484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What the audit exposed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Duplicate/noisy annotations were found during dataset auditing.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Visual review also revealed missing/inconsistent bounding boxes, including small cells such as platelets.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34840"/>
            <a:ext cx="64008" cy="1417320"/>
          </a:xfrm>
          <a:prstGeom prst="rect">
            <a:avLst/>
          </a:prstGeom>
          <a:solidFill>
            <a:srgbClr val="F5B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0" y="443484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Key learning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High aggregate accuracy can hide label-quality problems.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A carefully corrected subset was used to fine-tune the detector before returning to full-dataset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434840"/>
            <a:ext cx="64008" cy="1417320"/>
          </a:xfrm>
          <a:prstGeom prst="rect">
            <a:avLst/>
          </a:prstGeom>
          <a:solidFill>
            <a:srgbClr val="18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83A"/>
                </a:solidFill>
              </a:defRPr>
            </a:pPr>
            <a:r>
              <a:t>Retraining Strategy → Measurable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80"/>
                </a:solidFill>
              </a:defRPr>
            </a:pPr>
            <a:r>
              <a:t>Final evaluation used the same 36 unseen test images containing 471 annotated cell instances.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Overall mAP@50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85.40%</a:t>
            </a:r>
          </a:p>
          <a:p>
            <a:pPr>
              <a:defRPr sz="1050" b="1">
                <a:solidFill>
                  <a:srgbClr val="188E49"/>
                </a:solidFill>
              </a:defRPr>
            </a:pPr>
            <a:r>
              <a:t>+3.59 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Precision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82.46%</a:t>
            </a:r>
          </a:p>
          <a:p>
            <a:pPr>
              <a:defRPr sz="1050" b="1">
                <a:solidFill>
                  <a:srgbClr val="188E49"/>
                </a:solidFill>
              </a:defRPr>
            </a:pPr>
            <a:r>
              <a:t>+10.72 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32588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mAP@50–95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60.07%</a:t>
            </a:r>
          </a:p>
          <a:p>
            <a:pPr>
              <a:defRPr sz="1050" b="1">
                <a:solidFill>
                  <a:srgbClr val="188E49"/>
                </a:solidFill>
              </a:defRPr>
            </a:pPr>
            <a:r>
              <a:t>+3.60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32588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WBC mAP@50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96.90%</a:t>
            </a:r>
          </a:p>
          <a:p>
            <a:pPr>
              <a:defRPr sz="1050" b="1">
                <a:solidFill>
                  <a:srgbClr val="188E49"/>
                </a:solidFill>
              </a:defRPr>
            </a:pPr>
            <a:r>
              <a:t>Maintained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788920"/>
          <a:ext cx="6446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25880"/>
                <a:gridCol w="1325880"/>
                <a:gridCol w="1325880"/>
              </a:tblGrid>
              <a:tr h="411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228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2228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2228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228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Overall mAP@50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81.81%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283A"/>
                          </a:solidFill>
                        </a:defRPr>
                      </a:pPr>
                      <a:r>
                        <a:t>85.40%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+3.59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Overall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71.74%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283A"/>
                          </a:solidFill>
                        </a:defRPr>
                      </a:pPr>
                      <a:r>
                        <a:t>82.46%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+10.72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RBC mAP@50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83.40%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283A"/>
                          </a:solidFill>
                        </a:defRPr>
                      </a:pPr>
                      <a:r>
                        <a:t>85.40%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+2.00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RBC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61.00%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283A"/>
                          </a:solidFill>
                        </a:defRPr>
                      </a:pPr>
                      <a:r>
                        <a:t>76.10%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+15.10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Platelet mAP@50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65.10%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283A"/>
                          </a:solidFill>
                        </a:defRPr>
                      </a:pPr>
                      <a:r>
                        <a:t>73.90%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+8.80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Platelet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59.20%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283A"/>
                          </a:solidFill>
                        </a:defRPr>
                      </a:pPr>
                      <a:r>
                        <a:t>74.20%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+15.00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WBC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95.00%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283A"/>
                          </a:solidFill>
                        </a:defRPr>
                      </a:pPr>
                      <a:r>
                        <a:t>97.20%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83A"/>
                          </a:solidFill>
                        </a:defRPr>
                      </a:pPr>
                      <a:r>
                        <a:t>+2.20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Screenshot 2026-08-13 at 4.12.5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743200"/>
            <a:ext cx="4069080" cy="2052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5806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8E49"/>
                </a:solidFill>
              </a:defRPr>
            </a:pPr>
            <a:r>
              <a:t>Result: better precision and mAP, with strongest gains in RBC/Platelet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83A"/>
                </a:solidFill>
              </a:defRPr>
            </a:pPr>
            <a:r>
              <a:t>Deployment Calibration: Different Classes Need Different Operating Thresholds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80"/>
                </a:solidFill>
              </a:defRPr>
            </a:pPr>
            <a:r>
              <a:t>A confidence threshold is an application decision rule; it does not change the trained model or its 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Why a single threshold struggled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RBCs dominate the images, while WBCs and Platelets are much less represented.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At a high global threshold, valid lower-confidence WBC/Platelet predictions could be hidden.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64008" cy="1508760"/>
          </a:xfrm>
          <a:prstGeom prst="rect">
            <a:avLst/>
          </a:prstGeom>
          <a:solidFill>
            <a:srgbClr val="DC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063240"/>
            <a:ext cx="36576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Final application approach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Request candidate detections, then apply a class-specific acceptance threshold.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This lets the app be conservative for abundant RBCs while preserving sensitivity to rarer cell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63240"/>
            <a:ext cx="64008" cy="15087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RBC threshold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WBC threshold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40%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41732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Platelet threshold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788920"/>
            <a:ext cx="61722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Important distinction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mAP@50 = 85.4% measures final detector performance on the unseen test set.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60/40/40 are deployment thresholds controlling which predictions the Streamlit app displays.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788920"/>
            <a:ext cx="64008" cy="1508760"/>
          </a:xfrm>
          <a:prstGeom prst="rect">
            <a:avLst/>
          </a:prstGeom>
          <a:solidFill>
            <a:srgbClr val="18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 2026-08-13 at 4.12.4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00600"/>
            <a:ext cx="740714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0560" y="4892040"/>
            <a:ext cx="6309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2283A"/>
                </a:solidFill>
              </a:defRPr>
            </a:pPr>
            <a:r>
              <a:t>Engineering takeaway</a:t>
            </a:r>
          </a:p>
          <a:p>
            <a:pPr>
              <a:defRPr sz="1200">
                <a:solidFill>
                  <a:srgbClr val="22283A"/>
                </a:solidFill>
              </a:defRPr>
            </a:pPr>
            <a:r>
              <a:t>Confidence calibration turns a strong detector into a more dependable application by matching the decision rule to each class’s prediction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83A"/>
                </a:solidFill>
              </a:defRPr>
            </a:pPr>
            <a:r>
              <a:t>Final System: Quantitative Accuracy + Visual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80"/>
                </a:solidFill>
              </a:defRPr>
            </a:pPr>
            <a:r>
              <a:t>The final app makes every prediction inspectable: box, class, confidence and count.</a:t>
            </a:r>
          </a:p>
        </p:txBody>
      </p:sp>
      <p:pic>
        <p:nvPicPr>
          <p:cNvPr id="4" name="Picture 3" descr="Screenshot 2026-08-13 at 4.12.3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52360" cy="60550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32588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Final mAP@50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85.40%</a:t>
            </a:r>
          </a:p>
          <a:p>
            <a:pPr>
              <a:defRPr sz="1050" b="1">
                <a:solidFill>
                  <a:srgbClr val="188E49"/>
                </a:solidFill>
              </a:defRPr>
            </a:pPr>
            <a:r>
              <a:t>+3.59 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56032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97080"/>
                </a:solidFill>
              </a:defRPr>
            </a:pPr>
            <a:r>
              <a:t>Final Precision</a:t>
            </a:r>
          </a:p>
          <a:p>
            <a:pPr>
              <a:defRPr sz="2500" b="1">
                <a:solidFill>
                  <a:srgbClr val="22283A"/>
                </a:solidFill>
              </a:defRPr>
            </a:pPr>
            <a:r>
              <a:t>82.46%</a:t>
            </a:r>
          </a:p>
          <a:p>
            <a:pPr>
              <a:defRPr sz="1050" b="1">
                <a:solidFill>
                  <a:srgbClr val="188E49"/>
                </a:solidFill>
              </a:defRPr>
            </a:pPr>
            <a:r>
              <a:t>+10.72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40480"/>
            <a:ext cx="324612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b="1" sz="1600">
                <a:solidFill>
                  <a:srgbClr val="22283A"/>
                </a:solidFill>
              </a:defRPr>
            </a:pPr>
            <a:r>
              <a:t>Representative visual check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1 WBC • 13 RBCs • 3 Platelets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17 total detected cells</a:t>
            </a:r>
          </a:p>
          <a:p>
            <a:pPr>
              <a:spcAft>
                <a:spcPts val="400"/>
              </a:spcAft>
              <a:defRPr sz="1150">
                <a:solidFill>
                  <a:srgbClr val="22283A"/>
                </a:solidFill>
              </a:defRPr>
            </a:pPr>
            <a:r>
              <a:t>80.9% average confidence of accepted detections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840480"/>
            <a:ext cx="64008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064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83A"/>
                </a:solidFill>
              </a:defRPr>
            </a:pPr>
            <a:r>
              <a:t>Final learning: reliable ML came from the full loop—model choice → data audit → annotation correction → retraining → unbiased evaluation → deployment calibration.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